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69" r:id="rId4"/>
    <p:sldId id="270" r:id="rId5"/>
    <p:sldId id="271" r:id="rId6"/>
    <p:sldId id="272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39435-C8F1-442C-8003-78968CFE4D86}" type="datetimeFigureOut">
              <a:rPr lang="es-CO" smtClean="0"/>
              <a:t>29/07/2026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8D4B5-0003-4DC1-8C0E-C370F36A8C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2015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488A-FBE1-411E-BEF7-045B8B11E5EC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3631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143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6515100"/>
            <a:ext cx="1562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SENA - Centro de 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5100" y="6515100"/>
            <a:ext cx="1381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Equipo de Trabajo ADSO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175" y="2490787"/>
            <a:ext cx="3295650" cy="295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2887" y="2976562"/>
            <a:ext cx="11706225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sz="3750" b="1" i="0" u="none">
                <a:solidFill>
                  <a:srgbClr val="F8FAFC"/>
                </a:solidFill>
                <a:latin typeface="Space Grotesk"/>
              </a:rPr>
              <a:t>Gestión Académica </a:t>
            </a:r>
            <a:r>
              <a:rPr sz="3750" b="1" i="0" u="none">
                <a:solidFill>
                  <a:srgbClr val="4ADE80"/>
                </a:solidFill>
                <a:latin typeface="Space Grotesk"/>
              </a:rPr>
              <a:t>SENA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3643312"/>
            <a:ext cx="1122045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"/>
              </a:rPr>
              <a:t>Evaluación de los modelos de Mateo, Juan, Camilo, Gabriel y Johan. Sustentación del </a:t>
            </a:r>
            <a:r>
              <a:rPr sz="1425" b="1" i="0" u="none">
                <a:solidFill>
                  <a:srgbClr val="CBD5E1"/>
                </a:solidFill>
                <a:latin typeface="Urbanist"/>
              </a:rPr>
              <a:t>Modelo de Mateo</a:t>
            </a:r>
            <a:r>
              <a:rPr sz="1425" b="0" i="0" u="none">
                <a:solidFill>
                  <a:srgbClr val="CBD5E1"/>
                </a:solidFill>
                <a:latin typeface="Urbanist"/>
              </a:rPr>
              <a:t> como la opción elegida.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38F0647-D7C3-4135-385A-5914E88E3E22}"/>
              </a:ext>
            </a:extLst>
          </p:cNvPr>
          <p:cNvSpPr txBox="1"/>
          <p:nvPr/>
        </p:nvSpPr>
        <p:spPr>
          <a:xfrm>
            <a:off x="2812026" y="4044648"/>
            <a:ext cx="61746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es-CO" sz="1200" b="0" i="0" u="none" dirty="0">
                <a:solidFill>
                  <a:srgbClr val="64748B"/>
                </a:solidFill>
                <a:latin typeface="Urbanist"/>
              </a:rPr>
              <a:t>Programa de Formación: ADSO (Análisis y Desarrollo de Software) | Ficha 3239188</a:t>
            </a:r>
          </a:p>
          <a:p>
            <a:pPr algn="ctr">
              <a:lnSpc>
                <a:spcPts val="1800"/>
              </a:lnSpc>
            </a:pPr>
            <a:endParaRPr lang="es-CO" sz="1200" dirty="0">
              <a:solidFill>
                <a:srgbClr val="64748B"/>
              </a:solidFill>
              <a:latin typeface="Urbanist"/>
            </a:endParaRPr>
          </a:p>
          <a:p>
            <a:pPr algn="ctr">
              <a:lnSpc>
                <a:spcPts val="1800"/>
              </a:lnSpc>
            </a:pPr>
            <a:r>
              <a:rPr lang="es-CO" sz="1500" dirty="0">
                <a:solidFill>
                  <a:srgbClr val="CBD5E1"/>
                </a:solidFill>
                <a:latin typeface="Urbanist"/>
              </a:rPr>
              <a:t>Juan Camilo Gaitan </a:t>
            </a:r>
            <a:r>
              <a:rPr lang="es-CO" sz="1500" dirty="0" err="1">
                <a:solidFill>
                  <a:srgbClr val="CBD5E1"/>
                </a:solidFill>
                <a:latin typeface="Urbanist"/>
              </a:rPr>
              <a:t>Ramirez</a:t>
            </a:r>
            <a:endParaRPr lang="es-CO" sz="1500" dirty="0">
              <a:solidFill>
                <a:srgbClr val="CBD5E1"/>
              </a:solidFill>
              <a:latin typeface="Urbanist"/>
            </a:endParaRPr>
          </a:p>
          <a:p>
            <a:pPr algn="ctr">
              <a:lnSpc>
                <a:spcPts val="1800"/>
              </a:lnSpc>
            </a:pPr>
            <a:r>
              <a:rPr lang="es-CO" sz="1500" dirty="0">
                <a:solidFill>
                  <a:srgbClr val="CBD5E1"/>
                </a:solidFill>
                <a:latin typeface="Urbanist"/>
              </a:rPr>
              <a:t>Gabriel </a:t>
            </a:r>
            <a:r>
              <a:rPr lang="es-CO" sz="1500" dirty="0" err="1">
                <a:solidFill>
                  <a:srgbClr val="CBD5E1"/>
                </a:solidFill>
                <a:latin typeface="Urbanist"/>
              </a:rPr>
              <a:t>Tijaro</a:t>
            </a:r>
            <a:r>
              <a:rPr lang="es-CO" sz="1500" dirty="0">
                <a:solidFill>
                  <a:srgbClr val="CBD5E1"/>
                </a:solidFill>
                <a:latin typeface="Urbanist"/>
              </a:rPr>
              <a:t> </a:t>
            </a:r>
            <a:r>
              <a:rPr lang="es-CO" sz="1500" dirty="0" err="1">
                <a:solidFill>
                  <a:srgbClr val="CBD5E1"/>
                </a:solidFill>
                <a:latin typeface="Urbanist"/>
              </a:rPr>
              <a:t>Jimenez</a:t>
            </a:r>
            <a:endParaRPr lang="es-CO" sz="1500" dirty="0">
              <a:solidFill>
                <a:srgbClr val="CBD5E1"/>
              </a:solidFill>
              <a:latin typeface="Urbanist"/>
            </a:endParaRPr>
          </a:p>
          <a:p>
            <a:pPr algn="ctr">
              <a:lnSpc>
                <a:spcPts val="1800"/>
              </a:lnSpc>
            </a:pPr>
            <a:r>
              <a:rPr lang="es-CO" sz="1500" dirty="0">
                <a:solidFill>
                  <a:srgbClr val="CBD5E1"/>
                </a:solidFill>
                <a:latin typeface="Urbanist"/>
              </a:rPr>
              <a:t>Mateo Esteban </a:t>
            </a:r>
            <a:r>
              <a:rPr lang="es-CO" sz="1500" dirty="0" err="1">
                <a:solidFill>
                  <a:srgbClr val="CBD5E1"/>
                </a:solidFill>
                <a:latin typeface="Urbanist"/>
              </a:rPr>
              <a:t>Ramirez</a:t>
            </a:r>
            <a:r>
              <a:rPr lang="es-CO" sz="1500" dirty="0">
                <a:solidFill>
                  <a:srgbClr val="CBD5E1"/>
                </a:solidFill>
                <a:latin typeface="Urbanist"/>
              </a:rPr>
              <a:t> Garzon</a:t>
            </a:r>
          </a:p>
          <a:p>
            <a:pPr algn="ctr">
              <a:lnSpc>
                <a:spcPts val="1800"/>
              </a:lnSpc>
            </a:pPr>
            <a:r>
              <a:rPr lang="es-CO" sz="1500" dirty="0">
                <a:solidFill>
                  <a:srgbClr val="CBD5E1"/>
                </a:solidFill>
                <a:latin typeface="Urbanist"/>
              </a:rPr>
              <a:t>Juan David Romero Calderon </a:t>
            </a:r>
          </a:p>
          <a:p>
            <a:pPr algn="ctr">
              <a:lnSpc>
                <a:spcPts val="1800"/>
              </a:lnSpc>
            </a:pPr>
            <a:r>
              <a:rPr lang="es-CO" sz="1500" dirty="0">
                <a:solidFill>
                  <a:srgbClr val="CBD5E1"/>
                </a:solidFill>
                <a:latin typeface="Urbanist"/>
              </a:rPr>
              <a:t>Johan </a:t>
            </a:r>
            <a:r>
              <a:rPr lang="es-CO" sz="1500" dirty="0" err="1">
                <a:solidFill>
                  <a:srgbClr val="CBD5E1"/>
                </a:solidFill>
                <a:latin typeface="Urbanist"/>
              </a:rPr>
              <a:t>Andres</a:t>
            </a:r>
            <a:r>
              <a:rPr lang="es-CO" sz="1500" dirty="0">
                <a:solidFill>
                  <a:srgbClr val="CBD5E1"/>
                </a:solidFill>
                <a:latin typeface="Urbanist"/>
              </a:rPr>
              <a:t> </a:t>
            </a:r>
            <a:r>
              <a:rPr lang="es-CO" sz="1500" dirty="0" err="1">
                <a:solidFill>
                  <a:srgbClr val="CBD5E1"/>
                </a:solidFill>
                <a:latin typeface="Urbanist"/>
              </a:rPr>
              <a:t>Liñan</a:t>
            </a:r>
            <a:r>
              <a:rPr lang="es-CO" sz="1500" dirty="0">
                <a:solidFill>
                  <a:srgbClr val="CBD5E1"/>
                </a:solidFill>
                <a:latin typeface="Urbanist"/>
              </a:rPr>
              <a:t> Esquivel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61621-FDAC-77C6-B00D-59844C5A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33FF1DF-6217-A4B4-3E10-B2367FCE1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966F4E51-2F9B-07A1-C6ED-C14CF6577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372225"/>
            <a:ext cx="11220450" cy="285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38AD88-CD65-ACFD-D741-4B614BC08081}"/>
              </a:ext>
            </a:extLst>
          </p:cNvPr>
          <p:cNvSpPr txBox="1"/>
          <p:nvPr/>
        </p:nvSpPr>
        <p:spPr>
          <a:xfrm>
            <a:off x="485775" y="6496050"/>
            <a:ext cx="1695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Urbanist"/>
              </a:rPr>
              <a:t>SENA - Centro de Formación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AE9EE-D906-1DD2-9CC9-915717D37AD2}"/>
              </a:ext>
            </a:extLst>
          </p:cNvPr>
          <p:cNvSpPr txBox="1"/>
          <p:nvPr/>
        </p:nvSpPr>
        <p:spPr>
          <a:xfrm>
            <a:off x="10248900" y="6496050"/>
            <a:ext cx="1457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Urbanist"/>
              </a:rPr>
              <a:t>Equipo de Trabajo ADSO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10489B6-7DCE-6109-0887-536ADE52D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84" y="0"/>
            <a:ext cx="6934031" cy="6858000"/>
          </a:xfrm>
          <a:prstGeom prst="rect">
            <a:avLst/>
          </a:prstGeom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9525A053-07EC-F435-9571-81362CF0895E}"/>
              </a:ext>
            </a:extLst>
          </p:cNvPr>
          <p:cNvSpPr txBox="1"/>
          <p:nvPr/>
        </p:nvSpPr>
        <p:spPr>
          <a:xfrm>
            <a:off x="485776" y="485775"/>
            <a:ext cx="169545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850" b="1" i="0" u="none" dirty="0">
                <a:solidFill>
                  <a:srgbClr val="4ADE80"/>
                </a:solidFill>
                <a:latin typeface="Space Grotesk"/>
              </a:rPr>
              <a:t>Modelo A</a:t>
            </a:r>
            <a:endParaRPr sz="2850" b="1" i="0" u="none" dirty="0">
              <a:solidFill>
                <a:srgbClr val="4ADE80"/>
              </a:solidFill>
              <a:latin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02995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0D767-663A-FE0F-DCCE-54DECD5B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6115560-41D8-CCCA-140B-742476D3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FA1EE4EC-1449-4A0D-95C0-13B72DDAE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372225"/>
            <a:ext cx="11220450" cy="285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C6FE57-45CC-0108-4034-AB90B47F4679}"/>
              </a:ext>
            </a:extLst>
          </p:cNvPr>
          <p:cNvSpPr txBox="1"/>
          <p:nvPr/>
        </p:nvSpPr>
        <p:spPr>
          <a:xfrm>
            <a:off x="485775" y="6496050"/>
            <a:ext cx="1695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Urbanist"/>
              </a:rPr>
              <a:t>SENA - Centro de Formación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5BA525-3E7A-FDD2-34DD-4AD2D4F89955}"/>
              </a:ext>
            </a:extLst>
          </p:cNvPr>
          <p:cNvSpPr txBox="1"/>
          <p:nvPr/>
        </p:nvSpPr>
        <p:spPr>
          <a:xfrm>
            <a:off x="10248900" y="6496050"/>
            <a:ext cx="1457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Urbanist"/>
              </a:rPr>
              <a:t>Equipo de Trabajo ADSO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1ABAF3D-76EF-B0F6-B18A-FE1F3F78F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7903"/>
            <a:ext cx="12192000" cy="6702194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5A1F4299-4F15-8398-4C09-9D903559428C}"/>
              </a:ext>
            </a:extLst>
          </p:cNvPr>
          <p:cNvSpPr txBox="1"/>
          <p:nvPr/>
        </p:nvSpPr>
        <p:spPr>
          <a:xfrm>
            <a:off x="242888" y="6331807"/>
            <a:ext cx="169545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850" b="1" i="0" u="none" dirty="0">
                <a:solidFill>
                  <a:srgbClr val="4ADE80"/>
                </a:solidFill>
                <a:latin typeface="Space Grotesk"/>
              </a:rPr>
              <a:t>Modelo </a:t>
            </a:r>
            <a:r>
              <a:rPr lang="es-CO" sz="2850" b="1" dirty="0">
                <a:solidFill>
                  <a:srgbClr val="4ADE80"/>
                </a:solidFill>
                <a:latin typeface="Space Grotesk"/>
              </a:rPr>
              <a:t>B</a:t>
            </a:r>
            <a:endParaRPr sz="2850" b="1" i="0" u="none" dirty="0">
              <a:solidFill>
                <a:srgbClr val="4ADE80"/>
              </a:solidFill>
              <a:latin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32798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9FA3D-03B4-4AD2-4477-F1F38329B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CAEA27F-DDA4-B3C2-E76A-C135ED1AB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931B9AF4-9CDD-7B71-584D-50786D5DE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372225"/>
            <a:ext cx="11220450" cy="2857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92C6C40-3AF3-093E-B6AF-AD57E3286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06" y="0"/>
            <a:ext cx="12009188" cy="6858000"/>
          </a:xfrm>
          <a:prstGeom prst="rect">
            <a:avLst/>
          </a:prstGeom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269F5AC6-9B75-F9AA-A99B-82F143F0E6D2}"/>
              </a:ext>
            </a:extLst>
          </p:cNvPr>
          <p:cNvSpPr txBox="1"/>
          <p:nvPr/>
        </p:nvSpPr>
        <p:spPr>
          <a:xfrm>
            <a:off x="4929956" y="47318"/>
            <a:ext cx="2168935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850" b="1" i="0" u="none" dirty="0">
                <a:solidFill>
                  <a:srgbClr val="4ADE80"/>
                </a:solidFill>
                <a:latin typeface="Space Grotesk"/>
              </a:rPr>
              <a:t>Modelo C</a:t>
            </a:r>
            <a:endParaRPr sz="2850" b="1" i="0" u="none" dirty="0">
              <a:solidFill>
                <a:srgbClr val="4ADE80"/>
              </a:solidFill>
              <a:latin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561802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54155-4008-9748-9C76-11CAB28B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50B72D7-B32D-BF38-D179-9B0075653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DB1E789-DDD5-AE9D-B45C-D46BD2924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372225"/>
            <a:ext cx="11220450" cy="285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951F5B-67E6-A9D8-18C8-DFA45B75BE3C}"/>
              </a:ext>
            </a:extLst>
          </p:cNvPr>
          <p:cNvSpPr txBox="1"/>
          <p:nvPr/>
        </p:nvSpPr>
        <p:spPr>
          <a:xfrm>
            <a:off x="485775" y="6496050"/>
            <a:ext cx="1695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Urbanist"/>
              </a:rPr>
              <a:t>SENA - Centro de Formación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E4F32-8299-6EE6-C900-A78F5AA406B7}"/>
              </a:ext>
            </a:extLst>
          </p:cNvPr>
          <p:cNvSpPr txBox="1"/>
          <p:nvPr/>
        </p:nvSpPr>
        <p:spPr>
          <a:xfrm>
            <a:off x="10248900" y="6496050"/>
            <a:ext cx="1457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Urbanist"/>
              </a:rPr>
              <a:t>Equipo de Trabajo ADSO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72ADE59-E8D0-98D9-57C0-FA1F3BDCB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89463"/>
            <a:ext cx="12192000" cy="4479073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555FBB79-FD77-4EA2-CE3B-3220C90149ED}"/>
              </a:ext>
            </a:extLst>
          </p:cNvPr>
          <p:cNvSpPr txBox="1"/>
          <p:nvPr/>
        </p:nvSpPr>
        <p:spPr>
          <a:xfrm>
            <a:off x="485775" y="485775"/>
            <a:ext cx="11706225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850" b="1" i="0" u="none" dirty="0">
                <a:solidFill>
                  <a:srgbClr val="4ADE80"/>
                </a:solidFill>
                <a:latin typeface="Space Grotesk"/>
              </a:rPr>
              <a:t>Modelo D</a:t>
            </a:r>
            <a:endParaRPr sz="2850" b="1" i="0" u="none" dirty="0">
              <a:solidFill>
                <a:srgbClr val="4ADE80"/>
              </a:solidFill>
              <a:latin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095587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372225"/>
            <a:ext cx="1122045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5775"/>
            <a:ext cx="11706225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850" b="1" dirty="0">
                <a:solidFill>
                  <a:srgbClr val="F8FAFC"/>
                </a:solidFill>
                <a:latin typeface="Space Grotesk"/>
              </a:rPr>
              <a:t>Modelo E</a:t>
            </a:r>
            <a:endParaRPr sz="2850" b="1" i="0" u="none" dirty="0">
              <a:solidFill>
                <a:srgbClr val="4ADE80"/>
              </a:solidFill>
              <a:latin typeface="Space Grotes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5775" y="6496050"/>
            <a:ext cx="15430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Urbanist"/>
              </a:rPr>
              <a:t>Análisis Comparativo 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9375" y="6496050"/>
            <a:ext cx="14668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Urbanist"/>
              </a:rPr>
              <a:t>Coincidencias del equipo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337067F-5CC4-662B-9EC5-410F412CD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175" y="872115"/>
            <a:ext cx="9133714" cy="55001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Space Grotesk"/>
              </a:rPr>
              <a:t>Similitudes </a:t>
            </a:r>
            <a:r>
              <a:rPr sz="2700" b="1" i="0" u="none">
                <a:solidFill>
                  <a:srgbClr val="4ADE80"/>
                </a:solidFill>
                <a:latin typeface="Space Grotesk"/>
              </a:rPr>
              <a:t>Encontradas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6515100"/>
            <a:ext cx="1438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Análisis Comparativo 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6450" y="6515100"/>
            <a:ext cx="2009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Coincidencias del equipo (5 modelos)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2952750"/>
            <a:ext cx="108775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E8F0"/>
                </a:solidFill>
                <a:latin typeface="Urbanist"/>
              </a:rPr>
              <a:t>Entidades Núcleo Universales:</a:t>
            </a:r>
            <a:r>
              <a:rPr sz="1350" b="0" i="0" u="none">
                <a:solidFill>
                  <a:srgbClr val="E2E8F0"/>
                </a:solidFill>
                <a:latin typeface="Urbanist"/>
              </a:rPr>
              <a:t> Los cinco integrantes identificaron las 5 entidades base solicitadas: PERSONA, APRENDIZ, INSTRUCTOR, PROGRAMA_FORMACION y FICHA.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3638550"/>
            <a:ext cx="10877550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E2E8F0"/>
                </a:solidFill>
                <a:latin typeface="Urbanist"/>
              </a:rPr>
              <a:t>Especialización</a:t>
            </a:r>
            <a:r>
              <a:rPr sz="1350" b="1" i="0" u="none" dirty="0">
                <a:solidFill>
                  <a:srgbClr val="E2E8F0"/>
                </a:solidFill>
                <a:latin typeface="Urbanist"/>
              </a:rPr>
              <a:t> de Roles :</a:t>
            </a:r>
            <a:r>
              <a:rPr sz="1350"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Urbanist"/>
              </a:rPr>
              <a:t>Coincidencia</a:t>
            </a:r>
            <a:r>
              <a:rPr sz="1350"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Urbanist"/>
              </a:rPr>
              <a:t>unánime</a:t>
            </a:r>
            <a:r>
              <a:rPr sz="1350"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Urbanist"/>
              </a:rPr>
              <a:t>en</a:t>
            </a:r>
            <a:r>
              <a:rPr sz="1350"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Urbanist"/>
              </a:rPr>
              <a:t>vincular</a:t>
            </a:r>
            <a:r>
              <a:rPr sz="1350" b="0" i="0" u="none" dirty="0">
                <a:solidFill>
                  <a:srgbClr val="E2E8F0"/>
                </a:solidFill>
                <a:latin typeface="Urbanist"/>
              </a:rPr>
              <a:t> PERSONA con APRENDIZ e INSTRUCTOR para no </a:t>
            </a:r>
            <a:r>
              <a:rPr sz="1350" b="0" i="0" u="none" dirty="0" err="1">
                <a:solidFill>
                  <a:srgbClr val="E2E8F0"/>
                </a:solidFill>
                <a:latin typeface="Urbanist"/>
              </a:rPr>
              <a:t>repetir</a:t>
            </a:r>
            <a:r>
              <a:rPr sz="1350"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Urbanist"/>
              </a:rPr>
              <a:t>nombres</a:t>
            </a:r>
            <a:r>
              <a:rPr sz="1350"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Urbanist"/>
              </a:rPr>
              <a:t>ni</a:t>
            </a:r>
            <a:r>
              <a:rPr sz="1350" b="0" i="0" u="none" dirty="0">
                <a:solidFill>
                  <a:srgbClr val="E2E8F0"/>
                </a:solidFill>
                <a:latin typeface="Urbanist"/>
              </a:rPr>
              <a:t> cédulas.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4314825"/>
            <a:ext cx="108775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E8F0"/>
                </a:solidFill>
                <a:latin typeface="Urbanist"/>
              </a:rPr>
              <a:t>Jerarquía Académica Base:</a:t>
            </a:r>
            <a:r>
              <a:rPr sz="1350" b="0" i="0" u="none">
                <a:solidFill>
                  <a:srgbClr val="E2E8F0"/>
                </a:solidFill>
                <a:latin typeface="Urbanist"/>
              </a:rPr>
              <a:t> Todos los modelos establecieron que un PROGRAMA_FORMACION agrupa múltiples FICHAS en el tiempo.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98608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671887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348162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614612"/>
            <a:ext cx="3613100" cy="2305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9375" y="2614612"/>
            <a:ext cx="3613100" cy="2305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975" y="2614612"/>
            <a:ext cx="3613249" cy="2305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Space Grotesk"/>
              </a:rPr>
              <a:t>Diferencias entre </a:t>
            </a:r>
            <a:r>
              <a:rPr sz="2700" b="1" i="0" u="none">
                <a:solidFill>
                  <a:srgbClr val="4ADE80"/>
                </a:solidFill>
                <a:latin typeface="Space Grotesk"/>
              </a:rPr>
              <a:t>Propuestas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6515100"/>
            <a:ext cx="1438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Análisis Comparativo 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5575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Variaciones conceptuales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81362"/>
            <a:ext cx="33737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Space Grotesk"/>
              </a:rPr>
              <a:t>Visión Macro SENA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24262"/>
            <a:ext cx="3213050" cy="191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94A3B8"/>
                </a:solidFill>
                <a:latin typeface="Urbanist"/>
              </a:rPr>
              <a:t>(</a:t>
            </a:r>
            <a:r>
              <a:rPr lang="es-ES" sz="1125" b="1" dirty="0">
                <a:solidFill>
                  <a:srgbClr val="94A3B8"/>
                </a:solidFill>
                <a:latin typeface="Urbanist"/>
              </a:rPr>
              <a:t>A</a:t>
            </a:r>
            <a:r>
              <a:rPr sz="1125" b="1" i="0" u="none" dirty="0">
                <a:solidFill>
                  <a:srgbClr val="94A3B8"/>
                </a:solidFill>
                <a:latin typeface="Urbanist"/>
              </a:rPr>
              <a:t> y </a:t>
            </a:r>
            <a:r>
              <a:rPr lang="es-ES" sz="1125" b="1" dirty="0">
                <a:solidFill>
                  <a:srgbClr val="94A3B8"/>
                </a:solidFill>
                <a:latin typeface="Urbanist"/>
              </a:rPr>
              <a:t>E</a:t>
            </a:r>
            <a:r>
              <a:rPr sz="1125" b="1" i="0" u="none" dirty="0">
                <a:solidFill>
                  <a:srgbClr val="94A3B8"/>
                </a:solidFill>
                <a:latin typeface="Urbanis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19537"/>
            <a:ext cx="32130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4A3B8"/>
                </a:solidFill>
                <a:latin typeface="Urbanist"/>
              </a:rPr>
              <a:t>Ampliaron el alcance incorporando entidades como CENTRO_FORMACION, PROYECTO_FORMATIVO, COMPETENCIA y AMBIENTE.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400" y="3281362"/>
            <a:ext cx="33737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Space Grotesk"/>
              </a:rPr>
              <a:t>Enfoque de Seguimiento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400" y="3624262"/>
            <a:ext cx="3213050" cy="191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94A3B8"/>
                </a:solidFill>
                <a:latin typeface="Urbanist"/>
              </a:rPr>
              <a:t>(Modelo </a:t>
            </a:r>
            <a:r>
              <a:rPr lang="es-ES" sz="1125" b="1" dirty="0">
                <a:solidFill>
                  <a:srgbClr val="94A3B8"/>
                </a:solidFill>
                <a:latin typeface="Urbanist"/>
              </a:rPr>
              <a:t>E</a:t>
            </a:r>
            <a:r>
              <a:rPr sz="1125" b="1" i="0" u="none" dirty="0">
                <a:solidFill>
                  <a:srgbClr val="94A3B8"/>
                </a:solidFill>
                <a:latin typeface="Urbanist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400" y="3919537"/>
            <a:ext cx="3213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4A3B8"/>
                </a:solidFill>
                <a:latin typeface="Urbanist"/>
              </a:rPr>
              <a:t>Modeló el detalle pedagógico operativo agregando ASISTENCIA, EVALUACION, RESULTADO_APRENDIZAJE y FASE_PROYECTO.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000" y="3281362"/>
            <a:ext cx="337385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Space Grotesk"/>
              </a:rPr>
              <a:t>Enfoque en Horarios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000" y="3624262"/>
            <a:ext cx="3213199" cy="191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94A3B8"/>
                </a:solidFill>
                <a:latin typeface="Urbanist"/>
              </a:rPr>
              <a:t>(</a:t>
            </a:r>
            <a:r>
              <a:rPr lang="es-ES" sz="1125" b="1" dirty="0">
                <a:solidFill>
                  <a:srgbClr val="94A3B8"/>
                </a:solidFill>
                <a:latin typeface="Urbanist"/>
              </a:rPr>
              <a:t>D</a:t>
            </a:r>
            <a:r>
              <a:rPr sz="1125" b="1" i="0" u="none" dirty="0">
                <a:solidFill>
                  <a:srgbClr val="94A3B8"/>
                </a:solidFill>
                <a:latin typeface="Urbanist"/>
              </a:rPr>
              <a:t>, </a:t>
            </a:r>
            <a:r>
              <a:rPr lang="es-ES" sz="1125" b="1" dirty="0">
                <a:solidFill>
                  <a:srgbClr val="94A3B8"/>
                </a:solidFill>
                <a:latin typeface="Urbanist"/>
              </a:rPr>
              <a:t>C</a:t>
            </a:r>
            <a:r>
              <a:rPr sz="1125" b="1" i="0" u="none" dirty="0">
                <a:solidFill>
                  <a:srgbClr val="94A3B8"/>
                </a:solidFill>
                <a:latin typeface="Urbanist"/>
              </a:rPr>
              <a:t> y</a:t>
            </a:r>
            <a:r>
              <a:rPr lang="es-ES" sz="1125" b="1" dirty="0">
                <a:solidFill>
                  <a:srgbClr val="94A3B8"/>
                </a:solidFill>
                <a:latin typeface="Urbanist"/>
              </a:rPr>
              <a:t> B</a:t>
            </a:r>
            <a:r>
              <a:rPr sz="1125" b="1" i="0" u="none" dirty="0">
                <a:solidFill>
                  <a:srgbClr val="94A3B8"/>
                </a:solidFill>
                <a:latin typeface="Urbanis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000" y="3919537"/>
            <a:ext cx="32131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4A3B8"/>
                </a:solidFill>
                <a:latin typeface="Urbanist"/>
              </a:rPr>
              <a:t>Centraron su atención en la asignación horaria o en la vocería/liderazgo directo del instructor sobre la ficha.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871787"/>
            <a:ext cx="2762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9400" y="2871787"/>
            <a:ext cx="24765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3000" y="2871787"/>
            <a:ext cx="2476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49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Space Grotesk"/>
              </a:rPr>
              <a:t>Análisis de </a:t>
            </a:r>
            <a:r>
              <a:rPr sz="2700" b="1" i="0" u="none">
                <a:solidFill>
                  <a:srgbClr val="4ADE80"/>
                </a:solidFill>
                <a:latin typeface="Space Grotesk"/>
              </a:rPr>
              <a:t>Propuestas Individuales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6515100"/>
            <a:ext cx="1438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Análisis Comparativo 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29825" y="6515100"/>
            <a:ext cx="16764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Evaluación de los 5 integrantes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5775" y="2633662"/>
            <a:ext cx="11220450" cy="226695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718249"/>
              </p:ext>
            </p:extLst>
          </p:nvPr>
        </p:nvGraphicFramePr>
        <p:xfrm>
          <a:off x="485775" y="2633662"/>
          <a:ext cx="11210924" cy="2266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9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25">
                <a:tc>
                  <a:txBody>
                    <a:bodyPr/>
                    <a:lstStyle/>
                    <a:p>
                      <a:pPr algn="l"/>
                      <a:r>
                        <a:rPr lang="es-ES" sz="1200" b="1" i="0" u="none" dirty="0">
                          <a:solidFill>
                            <a:srgbClr val="38BDF8"/>
                          </a:solidFill>
                          <a:latin typeface="Space Grotesk"/>
                        </a:rPr>
                        <a:t>Diagrama</a:t>
                      </a:r>
                      <a:endParaRPr sz="1200" b="1" i="0" u="none" dirty="0">
                        <a:solidFill>
                          <a:srgbClr val="38BDF8"/>
                        </a:solidFill>
                        <a:latin typeface="Space Grotesk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Aspectos Favorables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Aspectos a Mejorar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algn="l"/>
                      <a:r>
                        <a:rPr lang="es-CO" sz="1050" b="1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A</a:t>
                      </a:r>
                      <a:endParaRPr sz="1050" b="1" i="0" u="none" dirty="0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✓ SELECCIONADO: Equilibrio ideal; abarca Centro, Proyecto, Competencia y Ambiente.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! Relación Instructor-Ficha en M:N directo.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algn="l"/>
                      <a:r>
                        <a:rPr lang="es-CO" sz="1050" b="1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E</a:t>
                      </a:r>
                      <a:endParaRPr sz="1050" b="1" i="0" u="none" dirty="0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✓ Muy detallado; suma Asistencia, Evaluación y Resultados de Aprendizaje.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! Alta complejidad y sobrecarga de entidades para el nivel conceptual.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algn="l"/>
                      <a:r>
                        <a:rPr lang="es-CO" sz="1050" b="1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D</a:t>
                      </a:r>
                      <a:endParaRPr sz="1050" b="1" i="0" u="none" dirty="0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✓ Resuelve el N:M con entidad intermedia (Asignación) y normalización estricta.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! Enfoque acotado a la asignación básica.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algn="l"/>
                      <a:r>
                        <a:rPr lang="es-ES" sz="1050" b="1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B</a:t>
                      </a:r>
                      <a:endParaRPr sz="1050" b="1" i="0" u="none" dirty="0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✓ Define atributos útiles de contratación e ingreso institucional.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! </a:t>
                      </a:r>
                      <a:r>
                        <a:rPr sz="1050" b="0" i="0" u="none" dirty="0" err="1">
                          <a:solidFill>
                            <a:srgbClr val="CBD5E1"/>
                          </a:solidFill>
                          <a:latin typeface="Urbanist"/>
                        </a:rPr>
                        <a:t>Asume</a:t>
                      </a:r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 un solo instructor </a:t>
                      </a:r>
                      <a:r>
                        <a:rPr sz="1050" b="0" i="0" u="none" dirty="0" err="1">
                          <a:solidFill>
                            <a:srgbClr val="CBD5E1"/>
                          </a:solidFill>
                          <a:latin typeface="Urbanist"/>
                        </a:rPr>
                        <a:t>líder</a:t>
                      </a:r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CBD5E1"/>
                          </a:solidFill>
                          <a:latin typeface="Urbanist"/>
                        </a:rPr>
                        <a:t>por</a:t>
                      </a:r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CBD5E1"/>
                          </a:solidFill>
                          <a:latin typeface="Urbanist"/>
                        </a:rPr>
                        <a:t>ficha</a:t>
                      </a:r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 (1:N).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algn="l"/>
                      <a:r>
                        <a:rPr lang="es-ES" sz="1050" b="1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C</a:t>
                      </a:r>
                      <a:endParaRPr sz="1050" b="1" i="0" u="none" dirty="0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✓ Resuelve la asignación horaria con entidad asociativa.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! </a:t>
                      </a:r>
                      <a:r>
                        <a:rPr sz="1050" b="0" i="0" u="none" dirty="0" err="1">
                          <a:solidFill>
                            <a:srgbClr val="CBD5E1"/>
                          </a:solidFill>
                          <a:latin typeface="Urbanist"/>
                        </a:rPr>
                        <a:t>Incluye</a:t>
                      </a:r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CBD5E1"/>
                          </a:solidFill>
                          <a:latin typeface="Urbanist"/>
                        </a:rPr>
                        <a:t>llaves</a:t>
                      </a:r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CBD5E1"/>
                          </a:solidFill>
                          <a:latin typeface="Urbanist"/>
                        </a:rPr>
                        <a:t>foráneas</a:t>
                      </a:r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CBD5E1"/>
                          </a:solidFill>
                          <a:latin typeface="Urbanist"/>
                        </a:rPr>
                        <a:t>explícitas</a:t>
                      </a:r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CBD5E1"/>
                          </a:solidFill>
                          <a:latin typeface="Urbanist"/>
                        </a:rPr>
                        <a:t>en</a:t>
                      </a:r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 el MER.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0537" y="3062287"/>
            <a:ext cx="1120973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11510" y="3062287"/>
            <a:ext cx="5590877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02388" y="3062287"/>
            <a:ext cx="4499074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0537" y="3438525"/>
            <a:ext cx="11209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11510" y="3438525"/>
            <a:ext cx="559087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02388" y="3438525"/>
            <a:ext cx="449907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0537" y="3800475"/>
            <a:ext cx="11209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11510" y="3800475"/>
            <a:ext cx="559087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02388" y="3800475"/>
            <a:ext cx="449907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0537" y="4162425"/>
            <a:ext cx="11209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11510" y="4162425"/>
            <a:ext cx="559087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02388" y="4162425"/>
            <a:ext cx="449907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0537" y="4524375"/>
            <a:ext cx="11209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11510" y="4524375"/>
            <a:ext cx="559087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02388" y="4524375"/>
            <a:ext cx="449907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286000"/>
            <a:ext cx="5443537" cy="13668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767137"/>
            <a:ext cx="5443537" cy="13668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87" y="2286000"/>
            <a:ext cx="5443537" cy="2962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485775"/>
            <a:ext cx="1170622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¿Por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qué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Elegimos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el </a:t>
            </a:r>
            <a:r>
              <a:rPr sz="2700" b="1" i="0" u="none" dirty="0">
                <a:solidFill>
                  <a:srgbClr val="4ADE80"/>
                </a:solidFill>
                <a:latin typeface="Space Grotesk"/>
              </a:rPr>
              <a:t>Modelo </a:t>
            </a:r>
            <a:r>
              <a:rPr lang="es-ES" sz="2700" b="1" i="0" u="none" dirty="0">
                <a:solidFill>
                  <a:srgbClr val="4ADE80"/>
                </a:solidFill>
                <a:latin typeface="Space Grotesk"/>
              </a:rPr>
              <a:t>A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6515100"/>
            <a:ext cx="1085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Criterios de Elección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7375" y="6515100"/>
            <a:ext cx="2228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Sustentación frente a los otros 4 modelos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2466975"/>
            <a:ext cx="53056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ADE80"/>
                </a:solidFill>
                <a:latin typeface="Space Grotesk"/>
              </a:rPr>
              <a:t>1. Cobertura Institucional Justa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2743200"/>
            <a:ext cx="5053012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Urbanist"/>
              </a:rPr>
              <a:t>Cubre el ecosistema SENA completo (Centro, Programa, Ficha, Proyecto, Ambiente y Competencia) sin sobrecargar el diagrama con procesos operativos secundarios.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3948112"/>
            <a:ext cx="53056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Space Grotesk"/>
              </a:rPr>
              <a:t>2. Frente a la propuesta de Johan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4224337"/>
            <a:ext cx="5053012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1">
              <a:lnSpc>
                <a:spcPts val="1912"/>
              </a:lnSpc>
            </a:pPr>
            <a:r>
              <a:rPr lang="es-ES" sz="1275" dirty="0">
                <a:solidFill>
                  <a:srgbClr val="94A3B8"/>
                </a:solidFill>
                <a:latin typeface="Urbanist"/>
              </a:rPr>
              <a:t>El modelo E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aportó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valiosos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detalles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académicos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(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Evaluación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y Asistencia),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pero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el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equipo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consideró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que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el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modelo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lang="es-ES" sz="1275" b="0" i="0" u="none" dirty="0">
                <a:solidFill>
                  <a:srgbClr val="94A3B8"/>
                </a:solidFill>
                <a:latin typeface="Urbanist"/>
              </a:rPr>
              <a:t>A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mantiene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la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claridad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ideal sin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volverse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excesivamente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complejo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2237" y="2466975"/>
            <a:ext cx="53056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A78BFA"/>
                </a:solidFill>
                <a:latin typeface="Space Grotesk"/>
              </a:rPr>
              <a:t>3. Fidelidad con el Aprendizaje ADSO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4162" y="2778918"/>
            <a:ext cx="285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Urbanist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2737" y="2781300"/>
            <a:ext cx="4862512" cy="242887"/>
          </a:xfrm>
          <a:prstGeom prst="rect">
            <a:avLst/>
          </a:prstGeom>
          <a:noFill/>
        </p:spPr>
        <p:txBody>
          <a:bodyPr wrap="square" lIns="2857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Urbanist"/>
              </a:rPr>
              <a:t>La ficha </a:t>
            </a:r>
            <a:r>
              <a:rPr sz="1275" b="1" i="0" u="none">
                <a:solidFill>
                  <a:srgbClr val="94A3B8"/>
                </a:solidFill>
                <a:latin typeface="Urbanist"/>
              </a:rPr>
              <a:t>desarrolla</a:t>
            </a:r>
            <a:r>
              <a:rPr sz="1275" b="0" i="0" u="none">
                <a:solidFill>
                  <a:srgbClr val="94A3B8"/>
                </a:solidFill>
                <a:latin typeface="Urbanist"/>
              </a:rPr>
              <a:t> un proyecto formativo de software.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4162" y="3117056"/>
            <a:ext cx="285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Urbanist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2737" y="3119437"/>
            <a:ext cx="4862512" cy="242887"/>
          </a:xfrm>
          <a:prstGeom prst="rect">
            <a:avLst/>
          </a:prstGeom>
          <a:noFill/>
        </p:spPr>
        <p:txBody>
          <a:bodyPr wrap="square" lIns="2857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Urbanist"/>
              </a:rPr>
              <a:t>La ficha </a:t>
            </a:r>
            <a:r>
              <a:rPr sz="1275" b="1" i="0" u="none">
                <a:solidFill>
                  <a:srgbClr val="94A3B8"/>
                </a:solidFill>
                <a:latin typeface="Urbanist"/>
              </a:rPr>
              <a:t>ocupa</a:t>
            </a:r>
            <a:r>
              <a:rPr sz="1275" b="0" i="0" u="none">
                <a:solidFill>
                  <a:srgbClr val="94A3B8"/>
                </a:solidFill>
                <a:latin typeface="Urbanist"/>
              </a:rPr>
              <a:t> un ambiente de aprendizaje.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4162" y="3455193"/>
            <a:ext cx="285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Urbanist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2737" y="3457575"/>
            <a:ext cx="4862512" cy="242887"/>
          </a:xfrm>
          <a:prstGeom prst="rect">
            <a:avLst/>
          </a:prstGeom>
          <a:noFill/>
        </p:spPr>
        <p:txBody>
          <a:bodyPr wrap="square" lIns="2857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Urbanist"/>
              </a:rPr>
              <a:t>El programa </a:t>
            </a:r>
            <a:r>
              <a:rPr sz="1275" b="1" i="0" u="none">
                <a:solidFill>
                  <a:srgbClr val="94A3B8"/>
                </a:solidFill>
                <a:latin typeface="Urbanist"/>
              </a:rPr>
              <a:t>contiene</a:t>
            </a:r>
            <a:r>
              <a:rPr sz="1275" b="0" i="0" u="none">
                <a:solidFill>
                  <a:srgbClr val="94A3B8"/>
                </a:solidFill>
                <a:latin typeface="Urbanist"/>
              </a:rPr>
              <a:t> competencias técnicas.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4162" y="3793331"/>
            <a:ext cx="285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Urbanist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2737" y="3795712"/>
            <a:ext cx="4862512" cy="242887"/>
          </a:xfrm>
          <a:prstGeom prst="rect">
            <a:avLst/>
          </a:prstGeom>
          <a:noFill/>
        </p:spPr>
        <p:txBody>
          <a:bodyPr wrap="square" lIns="2857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Urbanist"/>
              </a:rPr>
              <a:t>El centro </a:t>
            </a:r>
            <a:r>
              <a:rPr sz="1275" b="1" i="0" u="none">
                <a:solidFill>
                  <a:srgbClr val="94A3B8"/>
                </a:solidFill>
                <a:latin typeface="Urbanist"/>
              </a:rPr>
              <a:t>ofrece</a:t>
            </a:r>
            <a:r>
              <a:rPr sz="1275" b="0" i="0" u="none">
                <a:solidFill>
                  <a:srgbClr val="94A3B8"/>
                </a:solidFill>
                <a:latin typeface="Urbanist"/>
              </a:rPr>
              <a:t> la oferta académica.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867025"/>
            <a:ext cx="3613100" cy="1800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9375" y="2867025"/>
            <a:ext cx="3613100" cy="1800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867025"/>
            <a:ext cx="3613249" cy="1800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Space Grotesk"/>
              </a:rPr>
              <a:t>Elección Oficial del </a:t>
            </a:r>
            <a:r>
              <a:rPr sz="2700" b="1" i="0" u="none">
                <a:solidFill>
                  <a:srgbClr val="4ADE80"/>
                </a:solidFill>
                <a:latin typeface="Space Grotesk"/>
              </a:rPr>
              <a:t>Equipo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6515100"/>
            <a:ext cx="876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Selección Oficial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7050" y="6515100"/>
            <a:ext cx="1019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Acuerdo del grupo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514725"/>
            <a:ext cx="33537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Space Grotesk"/>
              </a:rPr>
              <a:t>Modelo Elegido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3857625"/>
            <a:ext cx="3194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94A3B8"/>
                </a:solidFill>
                <a:latin typeface="Urbanist"/>
              </a:rPr>
              <a:t>El </a:t>
            </a:r>
            <a:r>
              <a:rPr sz="1125" b="0" i="0" u="none" dirty="0" err="1">
                <a:solidFill>
                  <a:srgbClr val="94A3B8"/>
                </a:solidFill>
                <a:latin typeface="Urbanist"/>
              </a:rPr>
              <a:t>equipo</a:t>
            </a:r>
            <a:r>
              <a:rPr sz="112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Urbanist"/>
              </a:rPr>
              <a:t>ratificó</a:t>
            </a:r>
            <a:r>
              <a:rPr sz="112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Urbanist"/>
              </a:rPr>
              <a:t>por</a:t>
            </a:r>
            <a:r>
              <a:rPr sz="112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Urbanist"/>
              </a:rPr>
              <a:t>unanimidad</a:t>
            </a:r>
            <a:r>
              <a:rPr sz="1125" b="0" i="0" u="none" dirty="0">
                <a:solidFill>
                  <a:srgbClr val="94A3B8"/>
                </a:solidFill>
                <a:latin typeface="Urbanist"/>
              </a:rPr>
              <a:t> la </a:t>
            </a:r>
            <a:r>
              <a:rPr sz="1125" b="0" i="0" u="none" dirty="0" err="1">
                <a:solidFill>
                  <a:srgbClr val="94A3B8"/>
                </a:solidFill>
                <a:latin typeface="Urbanist"/>
              </a:rPr>
              <a:t>propuesta</a:t>
            </a:r>
            <a:r>
              <a:rPr sz="1125" b="0" i="0" u="none" dirty="0">
                <a:solidFill>
                  <a:srgbClr val="94A3B8"/>
                </a:solidFill>
                <a:latin typeface="Urbanist"/>
              </a:rPr>
              <a:t> del </a:t>
            </a:r>
            <a:r>
              <a:rPr sz="1125" b="1" i="0" u="none" dirty="0">
                <a:solidFill>
                  <a:srgbClr val="94A3B8"/>
                </a:solidFill>
                <a:latin typeface="Urbanist"/>
              </a:rPr>
              <a:t>Modelo </a:t>
            </a:r>
            <a:r>
              <a:rPr lang="es-ES" sz="1125" b="1" i="0" u="none" dirty="0">
                <a:solidFill>
                  <a:srgbClr val="94A3B8"/>
                </a:solidFill>
                <a:latin typeface="Urbanist"/>
              </a:rPr>
              <a:t>A </a:t>
            </a:r>
            <a:r>
              <a:rPr sz="1125" b="0" i="0" u="none" dirty="0" err="1">
                <a:solidFill>
                  <a:srgbClr val="94A3B8"/>
                </a:solidFill>
                <a:latin typeface="Urbanist"/>
              </a:rPr>
              <a:t>como</a:t>
            </a:r>
            <a:r>
              <a:rPr sz="1125" b="0" i="0" u="none" dirty="0">
                <a:solidFill>
                  <a:srgbClr val="94A3B8"/>
                </a:solidFill>
                <a:latin typeface="Urbanist"/>
              </a:rPr>
              <a:t> la </a:t>
            </a:r>
            <a:r>
              <a:rPr sz="1125" b="0" i="0" u="none" dirty="0" err="1">
                <a:solidFill>
                  <a:srgbClr val="94A3B8"/>
                </a:solidFill>
                <a:latin typeface="Urbanist"/>
              </a:rPr>
              <a:t>representación</a:t>
            </a:r>
            <a:r>
              <a:rPr sz="112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Urbanist"/>
              </a:rPr>
              <a:t>oficial</a:t>
            </a:r>
            <a:r>
              <a:rPr sz="1125" b="0" i="0" u="none" dirty="0">
                <a:solidFill>
                  <a:srgbClr val="94A3B8"/>
                </a:solidFill>
                <a:latin typeface="Urbanist"/>
              </a:rPr>
              <a:t> de </a:t>
            </a:r>
            <a:r>
              <a:rPr sz="1125" b="0" i="0" u="none" dirty="0" err="1">
                <a:solidFill>
                  <a:srgbClr val="94A3B8"/>
                </a:solidFill>
                <a:latin typeface="Urbanist"/>
              </a:rPr>
              <a:t>nuestro</a:t>
            </a:r>
            <a:r>
              <a:rPr sz="112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Urbanist"/>
              </a:rPr>
              <a:t>grupo</a:t>
            </a:r>
            <a:r>
              <a:rPr sz="1125" b="0" i="0" u="none" dirty="0">
                <a:solidFill>
                  <a:srgbClr val="94A3B8"/>
                </a:solidFill>
                <a:latin typeface="Urbanist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400" y="3505200"/>
            <a:ext cx="33737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Space Grotesk"/>
              </a:rPr>
              <a:t>Visión Equilibrada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400" y="3848100"/>
            <a:ext cx="3213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4A3B8"/>
                </a:solidFill>
                <a:latin typeface="Urbanist"/>
              </a:rPr>
              <a:t>Supera el alcance mínimo sin caer en el exceso de tablas procedimentales, facilitando su explicación en la sustentación.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000" y="3505200"/>
            <a:ext cx="337385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Space Grotesk"/>
              </a:rPr>
              <a:t>Estructura Limpia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000" y="3848100"/>
            <a:ext cx="32131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4A3B8"/>
                </a:solidFill>
                <a:latin typeface="Urbanist"/>
              </a:rPr>
              <a:t>Cuenta con 9 entidades bien justificadas y conectadas mediante cardinalidades conceptuales estándar.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3105150"/>
            <a:ext cx="2762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9400" y="3095625"/>
            <a:ext cx="27622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000" y="3095625"/>
            <a:ext cx="27622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528887"/>
            <a:ext cx="4007567" cy="35474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Space Grotesk"/>
              </a:rPr>
              <a:t>Modelo Elegido: </a:t>
            </a:r>
            <a:r>
              <a:rPr sz="2700" b="1" i="0" u="none">
                <a:solidFill>
                  <a:srgbClr val="4ADE80"/>
                </a:solidFill>
                <a:latin typeface="Space Grotesk"/>
              </a:rPr>
              <a:t>Propuesta de Mateo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6515100"/>
            <a:ext cx="1162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Modelo Seleccionado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709862"/>
            <a:ext cx="53056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Space Grotesk"/>
              </a:rPr>
              <a:t>Estructura del Diagrama Seleccionado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22" y="3551787"/>
            <a:ext cx="285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94A3B8"/>
                </a:solidFill>
                <a:latin typeface="Urbanist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036" y="3556550"/>
            <a:ext cx="3807019" cy="485775"/>
          </a:xfrm>
          <a:prstGeom prst="rect">
            <a:avLst/>
          </a:prstGeom>
          <a:noFill/>
        </p:spPr>
        <p:txBody>
          <a:bodyPr wrap="square" lIns="2857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94A3B8"/>
                </a:solidFill>
                <a:latin typeface="Urbanist"/>
              </a:rPr>
              <a:t>PERSONA / APRENDIZ / INSTRUCTOR: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Especialización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con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rombo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ES 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22" y="4221896"/>
            <a:ext cx="285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94A3B8"/>
                </a:solidFill>
                <a:latin typeface="Urbanist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64" y="4230577"/>
            <a:ext cx="3522253" cy="485775"/>
          </a:xfrm>
          <a:prstGeom prst="rect">
            <a:avLst/>
          </a:prstGeom>
          <a:noFill/>
        </p:spPr>
        <p:txBody>
          <a:bodyPr wrap="square" lIns="2857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94A3B8"/>
                </a:solidFill>
                <a:latin typeface="Urbanist"/>
              </a:rPr>
              <a:t>FICHA: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Centro neural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que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conecta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con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Aprendiz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, Instructor,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Ambiente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y Proyecto.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22" y="4918047"/>
            <a:ext cx="285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275" b="0" i="0" u="none" dirty="0">
                <a:solidFill>
                  <a:srgbClr val="94A3B8"/>
                </a:solidFill>
                <a:latin typeface="Urbanist"/>
              </a:rPr>
              <a:t>•</a:t>
            </a:r>
            <a:endParaRPr sz="1275" b="0" i="0" u="none" dirty="0">
              <a:solidFill>
                <a:srgbClr val="94A3B8"/>
              </a:solidFill>
              <a:latin typeface="Urbanis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0807" y="4922810"/>
            <a:ext cx="3534535" cy="485775"/>
          </a:xfrm>
          <a:prstGeom prst="rect">
            <a:avLst/>
          </a:prstGeom>
          <a:noFill/>
        </p:spPr>
        <p:txBody>
          <a:bodyPr wrap="square" lIns="2857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94A3B8"/>
                </a:solidFill>
                <a:latin typeface="Urbanist"/>
              </a:rPr>
              <a:t>PROGRAMA Y CENTRO: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Organizan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la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jerarquía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de la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oferta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Urbanist"/>
              </a:rPr>
              <a:t>educativa</a:t>
            </a:r>
            <a:r>
              <a:rPr sz="1275" b="0" i="0" u="none" dirty="0">
                <a:solidFill>
                  <a:srgbClr val="94A3B8"/>
                </a:solidFill>
                <a:latin typeface="Urbanist"/>
              </a:rPr>
              <a:t>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22480F42-AE3B-C417-1380-760DEAE4A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603" y="0"/>
            <a:ext cx="693403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Space Grotesk"/>
              </a:rPr>
              <a:t>Sustentación Técnica de la </a:t>
            </a:r>
            <a:r>
              <a:rPr sz="2700" b="1" i="0" u="none">
                <a:solidFill>
                  <a:srgbClr val="4ADE80"/>
                </a:solidFill>
                <a:latin typeface="Space Grotesk"/>
              </a:rPr>
              <a:t>Elección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6515100"/>
            <a:ext cx="704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Sustentación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2725" y="6515100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Argumentos de defensa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2205732"/>
            <a:ext cx="1087755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i="0" u="none" dirty="0" err="1">
                <a:solidFill>
                  <a:srgbClr val="E2E8F0"/>
                </a:solidFill>
                <a:latin typeface="Urbanist"/>
              </a:rPr>
              <a:t>Pertinencia</a:t>
            </a:r>
            <a:r>
              <a:rPr b="1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b="1" i="0" u="none" dirty="0" err="1">
                <a:solidFill>
                  <a:srgbClr val="E2E8F0"/>
                </a:solidFill>
                <a:latin typeface="Urbanist"/>
              </a:rPr>
              <a:t>en</a:t>
            </a:r>
            <a:r>
              <a:rPr b="1" i="0" u="none" dirty="0">
                <a:solidFill>
                  <a:srgbClr val="E2E8F0"/>
                </a:solidFill>
                <a:latin typeface="Urbanist"/>
              </a:rPr>
              <a:t> ADSO: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Integra la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metodología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de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formación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por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proyectos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del SENA a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través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de la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entidad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PROYECTO_FORMATIVO.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3206551"/>
            <a:ext cx="1087755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i="0" u="none" dirty="0" err="1">
                <a:solidFill>
                  <a:srgbClr val="E2E8F0"/>
                </a:solidFill>
                <a:latin typeface="Urbanist"/>
              </a:rPr>
              <a:t>Normalización</a:t>
            </a:r>
            <a:r>
              <a:rPr b="1" i="0" u="none" dirty="0">
                <a:solidFill>
                  <a:srgbClr val="E2E8F0"/>
                </a:solidFill>
                <a:latin typeface="Urbanist"/>
              </a:rPr>
              <a:t> de Datos </a:t>
            </a:r>
            <a:r>
              <a:rPr b="1" i="0" u="none" dirty="0" err="1">
                <a:solidFill>
                  <a:srgbClr val="E2E8F0"/>
                </a:solidFill>
                <a:latin typeface="Urbanist"/>
              </a:rPr>
              <a:t>Personales</a:t>
            </a:r>
            <a:r>
              <a:rPr b="1" i="0" u="none" dirty="0">
                <a:solidFill>
                  <a:srgbClr val="E2E8F0"/>
                </a:solidFill>
                <a:latin typeface="Urbanist"/>
              </a:rPr>
              <a:t>: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Utiliza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la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entidad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base PERSONA para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prevenir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la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duplicidad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de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nombres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,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correos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y cédulas.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4240707"/>
            <a:ext cx="1087755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i="0" u="none" dirty="0" err="1">
                <a:solidFill>
                  <a:srgbClr val="E2E8F0"/>
                </a:solidFill>
                <a:latin typeface="Urbanist"/>
              </a:rPr>
              <a:t>Coherencia</a:t>
            </a:r>
            <a:r>
              <a:rPr b="1" i="0" u="none" dirty="0">
                <a:solidFill>
                  <a:srgbClr val="E2E8F0"/>
                </a:solidFill>
                <a:latin typeface="Urbanist"/>
              </a:rPr>
              <a:t> de Dominio: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Mantiene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la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trazabilidad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desde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la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sede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o Centro de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Formación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hasta el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Ambiente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donde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el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aprendiz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recibe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 la </a:t>
            </a:r>
            <a:r>
              <a:rPr b="0" i="0" u="none" dirty="0" err="1">
                <a:solidFill>
                  <a:srgbClr val="E2E8F0"/>
                </a:solidFill>
                <a:latin typeface="Urbanist"/>
              </a:rPr>
              <a:t>instrucción</a:t>
            </a:r>
            <a:r>
              <a:rPr b="0" i="0" u="none" dirty="0">
                <a:solidFill>
                  <a:srgbClr val="E2E8F0"/>
                </a:solidFill>
                <a:latin typeface="Urbanist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239069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239888"/>
            <a:ext cx="2190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274044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6515100"/>
            <a:ext cx="981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Sustentación 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7850" y="6515100"/>
            <a:ext cx="22383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Urbanist"/>
              </a:rPr>
              <a:t>Análisis y Desarrollo de Software (ADSO)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887" y="2405062"/>
            <a:ext cx="11706225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8FAFC"/>
                </a:solidFill>
                <a:latin typeface="Space Grotesk"/>
              </a:rPr>
              <a:t>¡Gracias por su </a:t>
            </a:r>
            <a:r>
              <a:rPr sz="4500" b="1" i="0" u="none">
                <a:solidFill>
                  <a:srgbClr val="4ADE80"/>
                </a:solidFill>
                <a:latin typeface="Space Grotesk"/>
              </a:rPr>
              <a:t>Atención!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4125" y="3328987"/>
            <a:ext cx="7143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CBD5E1"/>
                </a:solidFill>
                <a:latin typeface="Urbanist"/>
              </a:rPr>
              <a:t>Tras evaluar los 5 modelos (Mateo, Juan, Camilo, Gabriel y Johan), el equipo ratificó el </a:t>
            </a:r>
            <a:r>
              <a:rPr sz="1425" b="1" i="0" u="none">
                <a:solidFill>
                  <a:srgbClr val="CBD5E1"/>
                </a:solidFill>
                <a:latin typeface="Urbanist"/>
              </a:rPr>
              <a:t>Modelo de Mateo</a:t>
            </a:r>
            <a:r>
              <a:rPr sz="1425" b="0" i="0" u="none">
                <a:solidFill>
                  <a:srgbClr val="CBD5E1"/>
                </a:solidFill>
                <a:latin typeface="Urbanist"/>
              </a:rPr>
              <a:t> como nuestra propuesta oficial.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4205287"/>
            <a:ext cx="112204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Space Grotesk"/>
              </a:rPr>
              <a:t>¿Preguntas u observaciones?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792</Words>
  <Application>Microsoft Office PowerPoint</Application>
  <PresentationFormat>Panorámica</PresentationFormat>
  <Paragraphs>109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Space Grotesk</vt:lpstr>
      <vt:lpstr>Urbanist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David</cp:lastModifiedBy>
  <cp:revision>2</cp:revision>
  <dcterms:created xsi:type="dcterms:W3CDTF">2013-01-27T09:14:16Z</dcterms:created>
  <dcterms:modified xsi:type="dcterms:W3CDTF">2026-07-29T06:09:25Z</dcterms:modified>
  <cp:category/>
</cp:coreProperties>
</file>