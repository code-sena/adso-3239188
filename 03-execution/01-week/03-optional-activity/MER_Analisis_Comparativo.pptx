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04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918" y="45720"/>
            <a:ext cx="12188952" cy="685800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6C348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8F7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B3D9"/>
                </a:solidFill>
              </a:rPr>
              <a:t>ANÁLISIS COMPARATIVO DE MODELOS ENTIDAD-RELACIÓN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propuestas, un mismo problema: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Aprendices, Instructores, Fichas y Programas de Formación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3E8"/>
                </a:solidFill>
              </a:rPr>
              <a:t>Comparación de 3 modelos MER conceptuales · Similitudes, diferencias y propuesta consolidada del equipo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5968" y="50292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68312" y="502920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692D2F-DDC6-3801-CE0C-B96FCBB3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78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4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7F6882-6178-1F80-E892-A0679BDC6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8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7E7FA0A-2919-7F12-4A97-3FC36B5D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2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Entidades identificadas en común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0736"/>
              </p:ext>
            </p:extLst>
          </p:nvPr>
        </p:nvGraphicFramePr>
        <p:xfrm>
          <a:off x="548640" y="1874520"/>
          <a:ext cx="11704320" cy="340156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Entidad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A (drawio 1)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B (boceto)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C (drawio 2)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PERSONA 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 — entidad central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 — entidad central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APRENDIZ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 err="1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 (entidad independiente)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 err="1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INSTRUCTOR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 err="1">
                          <a:solidFill>
                            <a:srgbClr val="222222"/>
                          </a:solidFill>
                        </a:rPr>
                        <a:t>Sí</a:t>
                      </a: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 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 (entidad independiente)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 err="1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FICHA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PROGRAMA DE FORMACIÓN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Sí, entidad propia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Sí, entidad propia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No — solo atributo dentro de Aprendiz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8F6F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68756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8F77"/>
                </a:solidFill>
              </a:rPr>
              <a:t>Coincidencia clave:  </a:t>
            </a:r>
            <a:r>
              <a:rPr lang="en-US" sz="1250" dirty="0">
                <a:solidFill>
                  <a:srgbClr val="222222"/>
                </a:solidFill>
              </a:rPr>
              <a:t>los modelos A y C construyen el concepto de "persona" como base común para aprendiz e instructor; el modelo B mantiene ambos roles como entidades totalmente separadas.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Relaciones planteadas de manera similar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1E9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82296" cy="14173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8132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483"/>
                </a:solidFill>
              </a:rPr>
              <a:t>Generalización / especialización "es"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Los Modelos A y C usan un rombo "es" para derivar Aprendiz e Instructor a partir de Persona, heredando atributos comunes (documento, nombre, correo).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8F6F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99232"/>
            <a:ext cx="82296" cy="14173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8F77"/>
                </a:solidFill>
              </a:rPr>
              <a:t>Ficha agrupa aprendices dentro de un programa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En los tres modelos la Ficha es el punto de encuentro entre el programa de formación y el grupo de aprendices que lo cursan, aunque la ruta para llegar a esa relación difiere.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26864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AF2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626864"/>
            <a:ext cx="82296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3659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El instructor se vincula a la ficha o al programa que orienta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129784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Los tres reconocen que un instructor debe quedar asociado a la formación que imparte (Modelo A y C vía Ficha, Modelo B vía Programa e indirectamente vía el aprendiz).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Diferencias entre los modelos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85142"/>
              </p:ext>
            </p:extLst>
          </p:nvPr>
        </p:nvGraphicFramePr>
        <p:xfrm>
          <a:off x="548640" y="1280160"/>
          <a:ext cx="11658600" cy="37033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B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C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¿</a:t>
                      </a:r>
                      <a:r>
                        <a:rPr lang="en-US" sz="1200" b="1" dirty="0" err="1">
                          <a:solidFill>
                            <a:srgbClr val="1B2A4A"/>
                          </a:solidFill>
                        </a:rPr>
                        <a:t>Existe</a:t>
                      </a: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  Persona?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Programa de Formación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Entidad propia,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relacionada con Persona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Entidad propia,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relacionada con Ficha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Solo atributo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dentro de Aprendiz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Relación Ficha–Programa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Indirecta (vía Persona)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Directa: "tiene una"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No existe como tal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Instructor–Aprendiz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No hay relación directa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Directa: "orienta a"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Ambos se relacionan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con Ficha (cursa / imparte)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DEDE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521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3A2E"/>
                </a:solidFill>
              </a:rPr>
              <a:t>Punto de tensión:  </a:t>
            </a:r>
            <a:r>
              <a:rPr lang="en-US" sz="1200" dirty="0">
                <a:solidFill>
                  <a:srgbClr val="222222"/>
                </a:solidFill>
              </a:rPr>
              <a:t>en el Modelo C, "Persona" se relaciona directamente con "Ficha" (pertenece) y a la vez Aprendiz/Instructor lo hacen por separado (cursa/imparte) — dos caminos redundantes para la misma idea.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se representa que una persona sea aprendiz, instructor o ambos?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240024" cy="27432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5" name="Image 0" descr="/mnt/user-data/uploads/Diagrama_MER__draw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417320"/>
            <a:ext cx="296570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160520"/>
            <a:ext cx="3240024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1605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 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3240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222"/>
                </a:solidFill>
              </a:rPr>
              <a:t>PERSONA es superclase; APRENDIZ e INSTRUCTOR son subtipos vía rombos "es". Una misma persona puede tener registro en ambos subtipos sin duplicar sus datos base.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062984" y="1280160"/>
            <a:ext cx="3240024" cy="27432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Image 1" descr="/mnt/user-data/uploads/1784861507800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0144" y="1417320"/>
            <a:ext cx="2965704" cy="2468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62984" y="4160520"/>
            <a:ext cx="3240024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2" name="Text 8"/>
          <p:cNvSpPr/>
          <p:nvPr/>
        </p:nvSpPr>
        <p:spPr>
          <a:xfrm>
            <a:off x="4062984" y="41605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 B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062984" y="4617720"/>
            <a:ext cx="3240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222"/>
                </a:solidFill>
              </a:rPr>
              <a:t>No hay generalización: INSTRUCTOR y APRENDIZ son entidades totalmente independientes, cada una con su propio documento, nombre, correo, etc.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577328" y="1280160"/>
            <a:ext cx="3240024" cy="27432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5" name="Image 2" descr="/mnt/user-data/uploads/1784861532216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4488" y="1417320"/>
            <a:ext cx="2965704" cy="2468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77328" y="4160520"/>
            <a:ext cx="3240024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7" name="Text 12"/>
          <p:cNvSpPr/>
          <p:nvPr/>
        </p:nvSpPr>
        <p:spPr>
          <a:xfrm>
            <a:off x="7577328" y="41605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 C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577328" y="4617720"/>
            <a:ext cx="3240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222"/>
                </a:solidFill>
              </a:rPr>
              <a:t>Igual que el Modelo A: PERSONA como superclase con "es" hacia APRENDIZ e INSTRUCTOR, permitiendo el doble rol de forma normalizada.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PREGUNTAS 5 Y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Aspectos favorables de cada propuesta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240024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240024" cy="4297680"/>
          </a:xfrm>
          <a:prstGeom prst="roundRect">
            <a:avLst>
              <a:gd name="adj" fmla="val 2258"/>
            </a:avLst>
          </a:prstGeom>
          <a:solidFill>
            <a:srgbClr val="EAF2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Resuelve correctamente el doble rol persona-aprendiz-instructor mediante generalización.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Mantiene Programa de Formación como entidad reutilizable con sus propios atributos.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Evita duplicar documento, nombre y correo entre aprendiz e instructor.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2984" y="1325880"/>
            <a:ext cx="3240024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4062984" y="13258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2984" y="1920240"/>
            <a:ext cx="3240024" cy="4297680"/>
          </a:xfrm>
          <a:prstGeom prst="roundRect">
            <a:avLst>
              <a:gd name="adj" fmla="val 2258"/>
            </a:avLst>
          </a:prstGeom>
          <a:solidFill>
            <a:srgbClr val="F1E9F7"/>
          </a:solidFill>
          <a:ln/>
        </p:spPr>
      </p:sp>
      <p:sp>
        <p:nvSpPr>
          <p:cNvPr id="13" name="Text 11"/>
          <p:cNvSpPr/>
          <p:nvPr/>
        </p:nvSpPr>
        <p:spPr>
          <a:xfrm>
            <a:off x="4291584" y="210312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C3483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Estructura simple y muy fácil de leer, sin entidades abstractas.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1584" y="338328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C3483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Relaciones explícitas y con nombre claro ("tiene una", "orienta a").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1584" y="466344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C3483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Programa de Formación bien definido como catálogo independiente.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77328" y="1325880"/>
            <a:ext cx="3240024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7577328" y="13258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77328" y="1920240"/>
            <a:ext cx="3240024" cy="4297680"/>
          </a:xfrm>
          <a:prstGeom prst="roundRect">
            <a:avLst>
              <a:gd name="adj" fmla="val 2258"/>
            </a:avLst>
          </a:prstGeom>
          <a:solidFill>
            <a:srgbClr val="E8F6F3"/>
          </a:solidFill>
          <a:ln/>
        </p:spPr>
      </p:sp>
      <p:sp>
        <p:nvSpPr>
          <p:cNvPr id="19" name="Text 17"/>
          <p:cNvSpPr/>
          <p:nvPr/>
        </p:nvSpPr>
        <p:spPr>
          <a:xfrm>
            <a:off x="7805928" y="210312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48F77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También usa generalización de Persona, evitando duplicidad de datos.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05928" y="338328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48F77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Relaciones cursa/imparte describen con precisión la acción real del negocio.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05928" y="4663440"/>
            <a:ext cx="28285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48F77"/>
                </a:solidFill>
              </a:rPr>
              <a:t>✓  </a:t>
            </a:r>
            <a:r>
              <a:rPr lang="en-US" sz="1200" dirty="0">
                <a:solidFill>
                  <a:srgbClr val="222222"/>
                </a:solidFill>
              </a:rPr>
              <a:t>Ficha incorpora atributos operativos útiles (centro_formacion, codigo_ficha).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posibles problemas de cada propuesta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240024" cy="502920"/>
          </a:xfrm>
          <a:prstGeom prst="roundRect">
            <a:avLst>
              <a:gd name="adj" fmla="val 14545"/>
            </a:avLst>
          </a:prstGeom>
          <a:solidFill>
            <a:srgbClr val="B03A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240024" cy="4297680"/>
          </a:xfrm>
          <a:prstGeom prst="roundRect">
            <a:avLst>
              <a:gd name="adj" fmla="val 2258"/>
            </a:avLst>
          </a:prstGeom>
          <a:solidFill>
            <a:srgbClr val="FDED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28285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3A2E"/>
                </a:solidFill>
              </a:rPr>
              <a:t>!  </a:t>
            </a:r>
            <a:r>
              <a:rPr lang="en-US" sz="1200" dirty="0">
                <a:solidFill>
                  <a:srgbClr val="222222"/>
                </a:solidFill>
              </a:rPr>
              <a:t>La relación "pertenece a" va de Persona → Programa: implica que también el instructor "pertenece" al programa, lo cual no refleja la regla de negocio.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28285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3A2E"/>
                </a:solidFill>
              </a:rPr>
              <a:t>!  </a:t>
            </a:r>
            <a:r>
              <a:rPr lang="en-US" sz="1200" dirty="0">
                <a:solidFill>
                  <a:srgbClr val="222222"/>
                </a:solidFill>
              </a:rPr>
              <a:t>No queda claro cómo el instructor se vincula con una Ficha específica.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2984" y="1325880"/>
            <a:ext cx="3240024" cy="502920"/>
          </a:xfrm>
          <a:prstGeom prst="roundRect">
            <a:avLst>
              <a:gd name="adj" fmla="val 14545"/>
            </a:avLst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4062984" y="13258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62984" y="1920240"/>
            <a:ext cx="3240024" cy="4297680"/>
          </a:xfrm>
          <a:prstGeom prst="roundRect">
            <a:avLst>
              <a:gd name="adj" fmla="val 2258"/>
            </a:avLst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4291584" y="2103120"/>
            <a:ext cx="28285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3A2E"/>
                </a:solidFill>
              </a:rPr>
              <a:t>!  </a:t>
            </a:r>
            <a:r>
              <a:rPr lang="en-US" sz="1200" dirty="0">
                <a:solidFill>
                  <a:srgbClr val="222222"/>
                </a:solidFill>
              </a:rPr>
              <a:t>Sin superclase Persona: si alguien es aprendiz e instructor a la vez, sus datos (documento, nombre, correo) quedarían duplicados en dos entidades distintas.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1584" y="4023360"/>
            <a:ext cx="28285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3A2E"/>
                </a:solidFill>
              </a:rPr>
              <a:t>!  </a:t>
            </a:r>
            <a:r>
              <a:rPr lang="en-US" sz="1200" dirty="0">
                <a:solidFill>
                  <a:srgbClr val="222222"/>
                </a:solidFill>
              </a:rPr>
              <a:t>"Instructor orienta a Aprendiz" es una relación directa sin pasar por Ficha, perdiendo el contexto de en qué cohorte/periodo ocurre esa orientación.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77328" y="1325880"/>
            <a:ext cx="3240024" cy="502920"/>
          </a:xfrm>
          <a:prstGeom prst="roundRect">
            <a:avLst>
              <a:gd name="adj" fmla="val 14545"/>
            </a:avLst>
          </a:prstGeom>
          <a:solidFill>
            <a:srgbClr val="B0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577328" y="13258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77328" y="1920240"/>
            <a:ext cx="3240024" cy="4297680"/>
          </a:xfrm>
          <a:prstGeom prst="roundRect">
            <a:avLst>
              <a:gd name="adj" fmla="val 2258"/>
            </a:avLst>
          </a:prstGeom>
          <a:solidFill>
            <a:srgbClr val="FDEDEC"/>
          </a:solidFill>
          <a:ln/>
        </p:spPr>
      </p:sp>
      <p:sp>
        <p:nvSpPr>
          <p:cNvPr id="17" name="Text 15"/>
          <p:cNvSpPr/>
          <p:nvPr/>
        </p:nvSpPr>
        <p:spPr>
          <a:xfrm>
            <a:off x="7805928" y="2103120"/>
            <a:ext cx="28285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3A2E"/>
                </a:solidFill>
              </a:rPr>
              <a:t>!  </a:t>
            </a:r>
            <a:r>
              <a:rPr lang="en-US" sz="1200" dirty="0">
                <a:solidFill>
                  <a:srgbClr val="222222"/>
                </a:solidFill>
              </a:rPr>
              <a:t>Programa de Formación es solo un atributo de Aprendiz, no una entidad: se repite el mismo texto en cada aprendiz y no se pueden guardar datos propios del programa (duración, código, descripción).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05928" y="4023360"/>
            <a:ext cx="28285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3A2E"/>
                </a:solidFill>
              </a:rPr>
              <a:t>!  </a:t>
            </a:r>
            <a:r>
              <a:rPr lang="en-US" sz="1200" dirty="0">
                <a:solidFill>
                  <a:srgbClr val="222222"/>
                </a:solidFill>
              </a:rPr>
              <a:t>Existen dos caminos simultáneos hacia Ficha (Persona–pertenece y Aprendiz/Instructor–cursa/imparte), lo que es redundante y puede generar inconsistencias.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PREGUNTA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Elementos que integramos en la propuesta conjunta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430000" cy="40690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Elemento tomado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Origen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Razón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Superclase PERSONA con "es" hacia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APRENDIZ e INSTRUCTOR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Modelos A y 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Evita duplicar datos personales cuando alguien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cumple ambos roles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PROGRAMA_FORMACION como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entidad independiente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Modelos A y 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Permite reutilizar el programa en varias fichas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y guardar sus propios atributos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Relación "tiene" entre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Programa y Ficha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Modelo 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Es la forma más directa y correcta de vincular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el programa con sus fichas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Relaciones "cursa" e "imparte"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entre roles y Ficha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Modelo 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Describen con precisión la acción real (no un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vínculo genérico de "pertenencia")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 DE MER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D9"/>
                </a:solidFill>
              </a:rPr>
              <a:t>Persona como superclase de Aprendiz e Instructor · Programa de Formación independiente · Ficha como eje operativo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234440"/>
            <a:ext cx="9628632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9</a:t>
            </a:r>
            <a:endParaRPr lang="en-US" sz="1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2EA673-FF09-180F-AC60-41C9A243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28631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483"/>
                </a:solidFill>
              </a:rPr>
              <a:t>SÍNTESIS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Justificación de las decisiones tomadas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Se conservó la generalización PERSONA → ES → APRENDIZ / INSTRUCTOR porque el enunciado exige representar que una misma persona puede tener uno o ambos roles sin duplicar su documento, nombre o correo; los Modelos A y C ya resolvían esto correctamente.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310896" cy="310896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04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PROGRAMA_FORMACION se mantiene como entidad propia (no como atributo) para poder describir un mismo programa una sola vez y asociarlo a múltiples fichas a lo largo del tiempo, evitando la redundancia detectada en el Modelo 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1546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La relación entre Programa y Ficha se tomó del Modelo B ("tiene") por ser la más directa; se descartó la ruta indirecta del Modelo A (Persona → pertenece a → Programa), que mezclaba un concepto de rol con un concepto de catálogo.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33088"/>
            <a:ext cx="310896" cy="310896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33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Las relaciones CURSA e IMPARTE (Modelo C) reemplazan al vínculo genérico "orienta a" del Modelo B, porque anclan al aprendiz y al instructor a una Ficha concreta, dando trazabilidad de periodo y grupo.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310896" cy="310896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47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</a:rPr>
              <a:t>Se eliminó cualquier relación directa Persona–Ficha: toda interacción con la Ficha ocurre exclusivamente a través de los subtipos Aprendiz e Instructor, eliminando la redundancia observada en el Modelo C.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1195</Words>
  <Application>Microsoft Office PowerPoint</Application>
  <PresentationFormat>Panorámica</PresentationFormat>
  <Paragraphs>158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Trujillo</cp:lastModifiedBy>
  <cp:revision>3</cp:revision>
  <dcterms:created xsi:type="dcterms:W3CDTF">2026-07-24T02:54:51Z</dcterms:created>
  <dcterms:modified xsi:type="dcterms:W3CDTF">2026-07-24T05:48:33Z</dcterms:modified>
</cp:coreProperties>
</file>